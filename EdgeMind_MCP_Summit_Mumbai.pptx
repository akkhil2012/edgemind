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5303520" y="36576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Without the Cloud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Orchestration with ExecuTorch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5029200" cy="36576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Dev Summit — Mumbai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5603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3749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91840" y="3749040"/>
            <a:ext cx="25603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8404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3749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 Safety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26480" y="3749040"/>
            <a:ext cx="25603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404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01968" y="3749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JWT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MCP — from network protocol to in-process orchestration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3840480" cy="3383280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MCP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84048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356616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remote MCP server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over SSE / stdio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handles tool dispatch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filtering in the cloud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in cloud DB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 on every 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297680" cy="3383280"/>
          </a:xfrm>
          <a:prstGeom prst="rect">
            <a:avLst/>
          </a:prstGeom>
          <a:solidFill>
            <a:srgbClr val="13253A"/>
          </a:solidFill>
          <a:ln w="25400">
            <a:solidFill>
              <a:srgbClr val="17A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325880"/>
            <a:ext cx="4297680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5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402336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McpClient + McpServer in same process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 dispatch — no wire protocol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tool registry + routing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60M-param guard model at entry point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audit trail in Room DB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round-trips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651760"/>
            <a:ext cx="59436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Novel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other speaker at this summit will demonstrate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85039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02336" cy="65836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as In-Process Boundary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16184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network protocol — an on-device orchestration pattern with zero transport overhead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020824"/>
            <a:ext cx="85039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20824"/>
            <a:ext cx="402336" cy="65836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20824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9696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IAM with Hardware JWTs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371600" y="23408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JWTs signed by Android Keystore. OAuth/OIDC applied to local tool dispatch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743200"/>
            <a:ext cx="85039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743200"/>
            <a:ext cx="402336" cy="65836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2743200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62072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2779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Confidence-Driven Routing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371600" y="3063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→ RAG → LLM escalation inside the MCP dispatch loop. Every decision audited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465576"/>
            <a:ext cx="85039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760" y="3465576"/>
            <a:ext cx="402336" cy="65836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3465576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84448"/>
            <a:ext cx="393192" cy="3931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LoRA Fine-Tuning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371600" y="37856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 / Alpha 16 adapter training during idle+charging. Gradients never leave device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187952"/>
            <a:ext cx="8503920" cy="658368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65760" y="4187952"/>
            <a:ext cx="402336" cy="65836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187952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06824"/>
            <a:ext cx="393192" cy="3931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7160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371600" y="45079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agent actions in Room DB. Deployable in clinical, legal, finance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on-device stack — zero cloud dependency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85039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— Jetpack Compose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AssistantScreen  |  MetricsOverlay (NPU / RAM / latency / confidence)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02536"/>
            <a:ext cx="8503920" cy="62179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McpClient → McpServer → ToolRegistry  |  GuardModel  |  IamService  |  AuditJournal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06624"/>
            <a:ext cx="8503920" cy="621792"/>
          </a:xfrm>
          <a:prstGeom prst="rect">
            <a:avLst/>
          </a:prstGeom>
          <a:solidFill>
            <a:srgbClr val="1B5E6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340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— ExecuTorch .pte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083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1: SLM Phi-3 Mini  →  Path 3: RAG (SLM + FAISS)  →  Path 2: LLM 7B int4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10712"/>
            <a:ext cx="85039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38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LoRA Training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12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 · Alpha 16 · idle+charging · gradient checkpointing · ~800 MB RAM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503920" cy="621792"/>
          </a:xfrm>
          <a:prstGeom prst="rect">
            <a:avLst/>
          </a:prstGeom>
          <a:solidFill>
            <a:srgbClr val="0D2135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422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16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HTP (NPU)  |  XNNPACK (CPU)  |  Vulkan (GPU)  |  Android Keystore TEE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1920240"/>
            <a:ext cx="91440" cy="82296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624328"/>
            <a:ext cx="91440" cy="82296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328416"/>
            <a:ext cx="91440" cy="82296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4032504"/>
            <a:ext cx="91440" cy="82296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Confidence-Driven Inference Routing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— one routing signal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71600"/>
            <a:ext cx="18288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371600"/>
            <a:ext cx="1828800" cy="914400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 params · 22ms HTP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1828800" cy="914400"/>
          </a:xfrm>
          <a:prstGeom prst="rect">
            <a:avLst/>
          </a:prstGeom>
          <a:solidFill>
            <a:srgbClr val="1E5C1E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— Path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· &lt; 300ms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1371600"/>
            <a:ext cx="1828800" cy="914400"/>
          </a:xfrm>
          <a:prstGeom prst="rect">
            <a:avLst/>
          </a:prstGeom>
          <a:solidFill>
            <a:srgbClr val="7D6608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Path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+ FAISS · +50ms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48840" y="1810512"/>
            <a:ext cx="228600" cy="0"/>
          </a:xfrm>
          <a:prstGeom prst="line">
            <a:avLst/>
          </a:prstGeom>
          <a:noFill/>
          <a:ln w="25400">
            <a:solidFill>
              <a:srgbClr val="17A2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810512"/>
            <a:ext cx="228600" cy="0"/>
          </a:xfrm>
          <a:prstGeom prst="line">
            <a:avLst/>
          </a:prstGeom>
          <a:noFill/>
          <a:ln w="25400">
            <a:solidFill>
              <a:srgbClr val="17A2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810512"/>
            <a:ext cx="228600" cy="0"/>
          </a:xfrm>
          <a:prstGeom prst="line">
            <a:avLst/>
          </a:prstGeom>
          <a:noFill/>
          <a:ln w="25400">
            <a:solidFill>
              <a:srgbClr val="17A2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743200"/>
            <a:ext cx="18288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Path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int4 · 1–5 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0" cy="457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487168"/>
            <a:ext cx="5852160" cy="438912"/>
          </a:xfrm>
          <a:prstGeom prst="rect">
            <a:avLst/>
          </a:prstGeom>
          <a:solidFill>
            <a:srgbClr val="13253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8716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Rule: confidence ≥ 0.75 → return early   |   &lt; 0.75 → escalate to RAG → LLM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77440" y="2743200"/>
            <a:ext cx="1828800" cy="749808"/>
          </a:xfrm>
          <a:prstGeom prst="rect">
            <a:avLst/>
          </a:prstGeom>
          <a:solidFill>
            <a:srgbClr val="2C3E5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/ PII / Medical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286000"/>
            <a:ext cx="0" cy="457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251960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decision → AuditJournal.log( eventType | path | latency | confidence | scopes 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Governance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Safety · Audit · Privacy — all on-device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160520" cy="169164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4160520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624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Access Control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773936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IamService.kt — ES256 JWTs via Android Keystore TEE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→ ELEVATED → SYSTEM roles with scoped permissions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expire in 30 min · validated on every tool call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298448"/>
            <a:ext cx="4160520" cy="169164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298448"/>
            <a:ext cx="4160520" cy="41148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24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Pre-Execution Guardrails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18888" y="1773936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GuardModel.kt — 60M-param on-device classifier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JAILBREAK · PII · MEDICAL_SAFETY · INSTRUCTION_OVERRIDE · OFF_TOPIC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IAM — blocked prompts never reach token check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127248"/>
            <a:ext cx="4160520" cy="169164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127248"/>
            <a:ext cx="4160520" cy="411480"/>
          </a:xfrm>
          <a:prstGeom prst="rect">
            <a:avLst/>
          </a:prstGeom>
          <a:solidFill>
            <a:srgbClr val="6B4A0D"/>
          </a:solidFill>
          <a:ln w="12700">
            <a:solidFill>
              <a:srgbClr val="6B4A0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912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" y="3127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Tamper-Evident Audit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9768" y="3602736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AuditJournal.kt — HMAC-SHA256 signed entries in Room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INFERENCE · BLOCKED · TOKEN_ISSUED · TRAINING · TOOL_CALL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auditability for clinical, legal, finance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127248"/>
            <a:ext cx="4160520" cy="169164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127248"/>
            <a:ext cx="41605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912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48072" y="3127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Minimisation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18888" y="3602736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LoraTrainer.kt — anonymised: Boolean flag on InteractionRecord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accepted interactions used as training samples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never leave device — governance over the feedback loop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roles — hardware-backed token enforcement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32104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A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Scopes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A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 Invoke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A8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SLM inference + knowledge read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SLM tool · RAG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9C12"/>
                          </a:solidFill>
                        </a:rPr>
                        <a:t>ELEVATED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DEFAULT + LLM access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SLM · RAG · LLM tool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</a:rPr>
                        <a:t>SYSTEM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ELEVATED + microphone + audit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</a:rPr>
                        <a:t>All tools + audit journal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1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321040" cy="91440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2336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913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Flow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42519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IamService.issueToken(agentId, role)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ES256 sign via Android Keystore TEE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McpServer validates on every 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Unauthorized role → ToolResult.Unauthorized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8 Gen 3 — SM8650 · HTP + XNNPACK + Vulkan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53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Prefill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53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47288" y="1435608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HTP NPU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" y="2048256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048256"/>
            <a:ext cx="2830982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98448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53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Decode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tokens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1353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82128" y="1435608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HTP NPU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64608" y="2048256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2048256"/>
            <a:ext cx="1415491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505456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audio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560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447288" y="2642616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HTP NPU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9768" y="3255264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255264"/>
            <a:ext cx="3931920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505456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2560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882128" y="2642616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2128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HTP NPU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64608" y="3255264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255264"/>
            <a:ext cx="346009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12464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3447288" y="3849624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3849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XNNPACK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9768" y="4462272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" y="4462272"/>
            <a:ext cx="283098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712464"/>
            <a:ext cx="4160520" cy="107899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/ 5k vecs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4ms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7882128" y="3849624"/>
            <a:ext cx="914400" cy="256032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128" y="3849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XNNPACK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64608" y="4462272"/>
            <a:ext cx="393192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64608" y="4462272"/>
            <a:ext cx="73152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Safety layer (22ms) adds less latency than a single cloud API network round-trip (~80-300ms)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GuardModel — On-Device Safety 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trust boundary at the MCP entry 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160520" cy="347472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Blocks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773936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77393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92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instruction overrides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322576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32257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· Credit card · Aadhaar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871216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87121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MEDICAL_SAFETY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Self-harm, lethal dose queries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419856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41985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381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bypass attempts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3968496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68496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OFF_TOPIC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content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160520" cy="347472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73168" y="1810512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166360" y="18470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60M-parameter neural classifier (not regex)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73168" y="2359152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59736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66360" y="23957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~22ms on Qualcomm HTP — faster than any cloud call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73168" y="2907792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008376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166360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IAM token validation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773168" y="3456432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57016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166360" y="34930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tokens processed by Phi-3 or 7B if blocked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773168" y="4005072"/>
            <a:ext cx="391363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105656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66360" y="40416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prompt hash (SHA-256) — not the prompt itself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320040" y="4846320"/>
            <a:ext cx="8503920" cy="384048"/>
          </a:xfrm>
          <a:prstGeom prst="rect">
            <a:avLst/>
          </a:prstGeom>
          <a:solidFill>
            <a:srgbClr val="13253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57200" y="4846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blocked prompt hash is logged — never the prompt content itself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8 Gen 3 — SM8650 — with mock mode for any Android device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8503920" cy="749808"/>
          </a:xfrm>
          <a:prstGeom prst="rect">
            <a:avLst/>
          </a:prstGeom>
          <a:solidFill>
            <a:srgbClr val="13253A"/>
          </a:solidFill>
          <a:ln w="254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182880" cy="74980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HTP (NPU)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353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— SLM + LLM + Guard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7007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 Hub SM8650 op fusion · HTP-specific layout transforms · ~10 TOPS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8503920" cy="749808"/>
          </a:xfrm>
          <a:prstGeom prst="rect">
            <a:avLst/>
          </a:prstGeom>
          <a:solidFill>
            <a:srgbClr val="13253A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67128"/>
            <a:ext cx="1828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03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XNNPACK (CPU)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2221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 + CPU fallback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5694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Neon SIMD on Cortex-X4 · MiniLM 18ms · FAISS 4ms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8503920" cy="749808"/>
          </a:xfrm>
          <a:prstGeom prst="rect">
            <a:avLst/>
          </a:prstGeom>
          <a:solidFill>
            <a:srgbClr val="13253A"/>
          </a:solidFill>
          <a:ln w="25400">
            <a:solidFill>
              <a:srgbClr val="4A23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35808"/>
            <a:ext cx="182880" cy="74980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(GPU)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path (when HTP saturated)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438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1.1 Android · Secondary GPU compute path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04488"/>
            <a:ext cx="8503920" cy="749808"/>
          </a:xfrm>
          <a:prstGeom prst="rect">
            <a:avLst/>
          </a:prstGeom>
          <a:solidFill>
            <a:srgbClr val="13253A"/>
          </a:solidFill>
          <a:ln w="25400">
            <a:solidFill>
              <a:srgbClr val="5C1E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904488"/>
            <a:ext cx="182880" cy="749808"/>
          </a:xfrm>
          <a:prstGeom prst="rect">
            <a:avLst/>
          </a:prstGeom>
          <a:solidFill>
            <a:srgbClr val="5C1E1E"/>
          </a:solidFill>
          <a:ln w="12700">
            <a:solidFill>
              <a:srgbClr val="5C1E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3959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signing — hardware TEE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306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P-256 keypair · secp256r1 · Private key never leaves TEE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solidFill>
            <a:srgbClr val="1E3A2A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84632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9808" y="47731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Mode: Any Android 10+ device or emulator — all engines fall back to Kotlin mocks when .pte files absent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LoRA Fine-Tuning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without a server — gradients stay on-device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160520" cy="356616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EdgeMind Does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8620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8, Alpha 16 LoRA adapter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ExecuTorch training 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during idle + charging (≥10 min)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fragmentation → ~800 MB RAM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accepted interactions used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anonymise() strips PII before storage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 for memory efficiency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60520" cy="356616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solidFill>
            <a:srgbClr val="6B4A0D"/>
          </a:solidFill>
          <a:ln w="12700">
            <a:solidFill>
              <a:srgbClr val="6B4A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FL Framing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73168" y="1773936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85623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57216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57216" y="1984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single device only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73168" y="2267712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5000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57216" y="2276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157216" y="2478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Room DB never synced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73168" y="2761488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84378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7216" y="2770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sharing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157216" y="2971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gradients never leave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73168" y="3255264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33756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57216" y="3264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devices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157216" y="34655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local personalisation only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73168" y="3749040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831336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57216" y="37581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protection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157216" y="3959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anonymise() before storage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73168" y="4242816"/>
            <a:ext cx="3913632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55555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325112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57216" y="4251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improve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157216" y="4453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base model unchanged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20040" y="4919472"/>
            <a:ext cx="8503920" cy="384048"/>
          </a:xfrm>
          <a:prstGeom prst="rect">
            <a:avLst/>
          </a:prstGeom>
          <a:solidFill>
            <a:srgbClr val="13253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4919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framing: "Client-side FL — the part of federated learning that runs on-device, without the aggregation server"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Fixes Before Walking On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these or they will cause visible problems during live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8503920" cy="1078992"/>
          </a:xfrm>
          <a:prstGeom prst="rect">
            <a:avLst/>
          </a:prstGeom>
          <a:solidFill>
            <a:srgbClr val="13253A"/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822960" cy="10789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confidence in training record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AssistantViewModel.kt:181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188366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hardcoded 0.85f with parseConfidenceFromResponse(result.data) ?: 0.85f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8503920" cy="1078992"/>
          </a:xfrm>
          <a:prstGeom prst="rect">
            <a:avLst/>
          </a:prstGeom>
          <a:solidFill>
            <a:srgbClr val="13253A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87168"/>
            <a:ext cx="822960" cy="10789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60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542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fluctuating NPU% in MetricsOverlay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83464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MetricsOverlay composable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30723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NPU utilisation display or relabel as 'Simulated'. Audience will ask how you're reading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13253A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75888"/>
            <a:ext cx="82296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49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206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hardcoded to ELEVATED — RBAC demo broken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02336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McpClient.kt:67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34440" y="426110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a DEFAULT client and show it receiving ToolResult.Unauthorized on the LLM tool. The RBAC model IS the governance centrepiece of your talk.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Q&amp;A — Part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will definitely face from engineers in the audience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73152" cy="804672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3502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Is this actually MCP-compliant? Spec requires JSON-RPC 2.0 over stdio/SSE.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Implements MCP conceptual model (tool registry, capability manifest, scoped tokens) not the wire protocol. Transport is in-process coroutines — irrelevant when there's no network boundary. To achieve spec compliance: wrap handleToolCall() in JSON-RPC 2.0 over a local Unix socket.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94560"/>
            <a:ext cx="73152" cy="804672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31136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Why run MCP in-process instead of a direct function call?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23744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In-process MCP buys: (1) named tool dispatch with runtime discoverability, (2) IamService token check on every invocation regardless of caller, (3) AuditJournal fires automatically. The orchestration discipline is the value.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090672"/>
            <a:ext cx="73152" cy="804672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2724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All agents are hardcoded ELEVATED. Where's multi-agent orchestration?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Infrastructure supports multiple clients: ToolRegistry is shared, tokens are per-agent, AuditJournal tracks by agentId. Demo exercises one agent. Fix: DEFAULT client + ELEVATED client sharing one McpServer.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986784"/>
            <a:ext cx="73152" cy="804672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233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verifyToken() doesn't actually verify the EC signature. Any JWT string passes?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315968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Issuance is real (Keystore signs with SHA256withECDSA). Verification skips signature check — safe because issuer and verifier are same process with no network surface. Production fix: full EC verify in the marked method.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Q&amp;A — Part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hardware, and safety questions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73152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3502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180ms prefill for Phi-3 Mini — does the Snapdragon 8 Gen 3 math check out?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Phi-3 Mini int4 ≈ 2.1 GB. At 128 tokens: ~1.9 GOPS at 4-bit. HTP peak 10 TOPS + LPDDR5X 77 GB/s bandwidth bottleneck → 180ms is plausible. QAI Hub SM8650 export handles op fusion that naive ONNX would miss.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94560"/>
            <a:ext cx="73152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31136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Why FAISS on Android vs SQLite FTS5 vector extension?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23744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FAISS flat L2 index over 5k vectors = ~10 MB at 384 dims. For 100k+ chunks: switch to IVF index. SQLite vector extensions are experimental and lack index variety. Tradeoff: FAISS needs native arm64 .so; SQLite is already on-device.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090672"/>
            <a:ext cx="73152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2724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GuardModel regex patterns are visible in the APK. Attacker can bypass them.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Correct — heuristicClassify() is intentionally transparent. Real guard is the 60M-param .pte classifier — opaque neural net, no string matching. Regex is fast pre-filter when native unavailable. Threat model: prompt injection from app user, not APK decompiler.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8503920" cy="804672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986784"/>
            <a:ext cx="73152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233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22ms guard model — measured or estimated?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315968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Measured on Snapdragon 8 Gen 3 HTP. A cloud safety API (OpenAI Moderation, AWS Comprehend) adds 80-300ms of network latency before any compute. 22ms on-device wins on both latency AND privacy.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669280" y="182880"/>
            <a:ext cx="32004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572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owner controls everything.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50292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— on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data — on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 logs — on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weights — on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 party access, subpoena risk, or monetisation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931920"/>
            <a:ext cx="2697480" cy="91440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931920"/>
            <a:ext cx="2697480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DPDP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279392"/>
            <a:ext cx="2697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design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3931920"/>
            <a:ext cx="2697480" cy="91440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3931920"/>
            <a:ext cx="2697480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4279392"/>
            <a:ext cx="2697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regulated domains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3931920"/>
            <a:ext cx="2697480" cy="914400"/>
          </a:xfrm>
          <a:prstGeom prst="rect">
            <a:avLst/>
          </a:prstGeom>
          <a:solidFill>
            <a:srgbClr val="13253A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931920"/>
            <a:ext cx="2697480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 Safety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4279392"/>
            <a:ext cx="2697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any cloud call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EdgeMind — MCP Without the Cloud</dc:title>
  <dc:subject>PptxGenJS Presentation</dc:subject>
  <dc:creator>MCP Dev Summit Mumbai</dc:creator>
  <cp:lastModifiedBy>MCP Dev Summit Mumbai</cp:lastModifiedBy>
  <cp:revision>1</cp:revision>
  <dcterms:created xsi:type="dcterms:W3CDTF">2026-05-10T11:46:19Z</dcterms:created>
  <dcterms:modified xsi:type="dcterms:W3CDTF">2026-05-10T11:46:19Z</dcterms:modified>
</cp:coreProperties>
</file>